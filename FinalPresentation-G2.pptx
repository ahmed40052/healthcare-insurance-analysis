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31"/>
  </p:notesMasterIdLst>
  <p:sldIdLst>
    <p:sldId id="28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8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0"/>
  </p:sldIdLst>
  <p:sldSz cx="12192000" cy="6858000"/>
  <p:notesSz cx="6858000" cy="12192000"/>
  <p:embeddedFontLst>
    <p:embeddedFont>
      <p:font typeface="Instrument Sans Bold" panose="020B0604020202020204" charset="0"/>
      <p:regular r:id="rId32"/>
    </p:embeddedFont>
    <p:embeddedFont>
      <p:font typeface="Instrument Sans Medium" panose="020B0604020202020204" charset="0"/>
      <p:regular r:id="rId33"/>
    </p:embeddedFont>
    <p:embeddedFont>
      <p:font typeface="Instrument Sans SemiBold" panose="020B0604020202020204" charset="0"/>
      <p:regular r:id="rId34"/>
    </p:embeddedFont>
    <p:embeddedFont>
      <p:font typeface="Raleway" pitchFamily="2" charset="0"/>
      <p:regular r:id="rId35"/>
    </p:embeddedFont>
    <p:embeddedFont>
      <p:font typeface="Roboto" panose="02000000000000000000" pitchFamily="2" charset="0"/>
      <p:regular r:id="rId36"/>
    </p:embeddedFont>
    <p:embeddedFont>
      <p:font typeface="Roboto Bold" panose="02000000000000000000" charset="0"/>
      <p:bold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063"/>
                </a:solidFill>
                <a:latin typeface="Instrument Sans Medium"/>
              </a:defRPr>
            </a:pPr>
            <a:r>
              <a:rPr lang="en-US" sz="1200" b="0" i="0" u="none" strike="noStrike">
                <a:solidFill>
                  <a:srgbClr val="1E3063"/>
                </a:solidFill>
                <a:latin typeface="Instrument Sans Medium"/>
              </a:rPr>
              <a:t>Average Charges by BMI Category and Smoker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Non-Smoker</c:v>
                </c:pt>
              </c:strCache>
            </c:strRef>
          </c:tx>
          <c:spPr>
            <a:solidFill>
              <a:srgbClr val="409F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Underweight</c:v>
                </c:pt>
                <c:pt idx="1">
                  <c:v>Normal</c:v>
                </c:pt>
                <c:pt idx="2">
                  <c:v>Overweight</c:v>
                </c:pt>
                <c:pt idx="3">
                  <c:v>Obese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5485.06</c:v>
                </c:pt>
                <c:pt idx="1">
                  <c:v>7734.65</c:v>
                </c:pt>
                <c:pt idx="2">
                  <c:v>8226.09</c:v>
                </c:pt>
                <c:pt idx="3">
                  <c:v>8866.16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F-451A-BF24-6DB1AD7A1B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Smoker</c:v>
                </c:pt>
              </c:strCache>
            </c:strRef>
          </c:tx>
          <c:spPr>
            <a:solidFill>
              <a:srgbClr val="05427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Underweight</c:v>
                </c:pt>
                <c:pt idx="1">
                  <c:v>Normal</c:v>
                </c:pt>
                <c:pt idx="2">
                  <c:v>Overweight</c:v>
                </c:pt>
                <c:pt idx="3">
                  <c:v>Obese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18809.82</c:v>
                </c:pt>
                <c:pt idx="1">
                  <c:v>19942.22</c:v>
                </c:pt>
                <c:pt idx="2">
                  <c:v>22491.18</c:v>
                </c:pt>
                <c:pt idx="3">
                  <c:v>41692.81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F-451A-BF24-6DB1AD7A1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EE6F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3063"/>
                </a:solidFill>
                <a:latin typeface="Instrument Sans Medium"/>
              </a:defRPr>
            </a:pPr>
            <a:endParaRPr lang="ar-E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EE6FD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CEE6F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3063"/>
                </a:solidFill>
                <a:latin typeface="Instrument Sans Medium"/>
              </a:defRPr>
            </a:pPr>
            <a:endParaRPr lang="ar-E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3063"/>
              </a:solidFill>
              <a:latin typeface="Instrument Sans Medium"/>
              <a:cs typeface="Instrument Sans Medium"/>
            </a:defRPr>
          </a:pPr>
          <a:endParaRPr lang="ar-E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063"/>
                </a:solidFill>
                <a:latin typeface="Instrument Sans Medium"/>
              </a:defRPr>
            </a:pPr>
            <a:r>
              <a:rPr lang="en-US" sz="1200" b="0" i="0" u="none" strike="noStrike">
                <a:solidFill>
                  <a:srgbClr val="1E3063"/>
                </a:solidFill>
                <a:latin typeface="Instrument Sans Medium"/>
              </a:rPr>
              <a:t>Average Charges vs. Smoker Rate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Charges</c:v>
                </c:pt>
              </c:strCache>
            </c:strRef>
          </c:tx>
          <c:spPr>
            <a:solidFill>
              <a:srgbClr val="0A81F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13406.38</c:v>
                </c:pt>
                <c:pt idx="1">
                  <c:v>12450.84</c:v>
                </c:pt>
                <c:pt idx="2">
                  <c:v>14735.41</c:v>
                </c:pt>
                <c:pt idx="3">
                  <c:v>12346.94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7-4E0E-B66B-0ECE33F8C5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Smoker Rate</c:v>
                </c:pt>
              </c:strCache>
            </c:strRef>
          </c:tx>
          <c:spPr>
            <a:ln w="38100" cap="flat">
              <a:solidFill>
                <a:srgbClr val="091C5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91C53"/>
              </a:solidFill>
              <a:ln w="9525" cap="flat">
                <a:solidFill>
                  <a:srgbClr val="091C5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0.20699999999999999</c:v>
                </c:pt>
                <c:pt idx="1">
                  <c:v>0.17899999999999999</c:v>
                </c:pt>
                <c:pt idx="2">
                  <c:v>0.25</c:v>
                </c:pt>
                <c:pt idx="3">
                  <c:v>0.17799999999999999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B7-4E0E-B66B-0ECE33F8C5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3063"/>
                </a:solidFill>
                <a:latin typeface="Instrument Sans Medium"/>
              </a:defRPr>
            </a:pPr>
            <a:endParaRPr lang="ar-E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EE6FD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3063"/>
                </a:solidFill>
                <a:latin typeface="Instrument Sans Medium"/>
              </a:defRPr>
            </a:pPr>
            <a:endParaRPr lang="ar-EG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3063"/>
                </a:solidFill>
                <a:latin typeface="Instrument Sans Medium"/>
              </a:defRPr>
            </a:pPr>
            <a:endParaRPr lang="ar-EG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3063"/>
              </a:solidFill>
              <a:latin typeface="Instrument Sans Medium"/>
              <a:cs typeface="Instrument Sans Medium"/>
            </a:defRPr>
          </a:pPr>
          <a:endParaRPr lang="ar-E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063"/>
                </a:solidFill>
                <a:latin typeface="Instrument Sans Medium"/>
              </a:defRPr>
            </a:pPr>
            <a:r>
              <a:rPr lang="en-US" sz="1200" b="0" i="0" u="none" strike="noStrike">
                <a:solidFill>
                  <a:srgbClr val="1E3063"/>
                </a:solidFill>
                <a:latin typeface="Instrument Sans Medium"/>
              </a:rPr>
              <a:t>Average BMI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BMI</c:v>
                </c:pt>
              </c:strCache>
            </c:strRef>
          </c:tx>
          <c:spPr>
            <a:solidFill>
              <a:srgbClr val="05427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542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93-4AAA-B8E1-7C864DA3A980}"/>
              </c:ext>
            </c:extLst>
          </c:dPt>
          <c:dPt>
            <c:idx val="1"/>
            <c:invertIfNegative val="0"/>
            <c:bubble3D val="0"/>
            <c:spPr>
              <a:solidFill>
                <a:srgbClr val="0761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93-4AAA-B8E1-7C864DA3A980}"/>
              </c:ext>
            </c:extLst>
          </c:dPt>
          <c:dPt>
            <c:idx val="2"/>
            <c:invertIfNegative val="0"/>
            <c:bubble3D val="0"/>
            <c:spPr>
              <a:solidFill>
                <a:srgbClr val="0A81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93-4AAA-B8E1-7C864DA3A980}"/>
              </c:ext>
            </c:extLst>
          </c:dPt>
          <c:dPt>
            <c:idx val="3"/>
            <c:invertIfNegative val="0"/>
            <c:bubble3D val="0"/>
            <c:spPr>
              <a:solidFill>
                <a:srgbClr val="409F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93-4AAA-B8E1-7C864DA3A9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91C53"/>
                    </a:solidFill>
                    <a:latin typeface="Instrument Sans Medium"/>
                  </a:defRPr>
                </a:pPr>
                <a:endParaRPr lang="ar-E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Southeast</c:v>
                </c:pt>
                <c:pt idx="1">
                  <c:v>Southwest</c:v>
                </c:pt>
                <c:pt idx="2">
                  <c:v>Northwest</c:v>
                </c:pt>
                <c:pt idx="3">
                  <c:v>Northeast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33.36</c:v>
                </c:pt>
                <c:pt idx="1">
                  <c:v>30.6</c:v>
                </c:pt>
                <c:pt idx="2">
                  <c:v>29.2</c:v>
                </c:pt>
                <c:pt idx="3">
                  <c:v>29.17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93-4AAA-B8E1-7C864DA3A9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EE6F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3063"/>
                </a:solidFill>
                <a:latin typeface="Instrument Sans Medium"/>
              </a:defRPr>
            </a:pPr>
            <a:endParaRPr lang="ar-E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28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93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9965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711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9226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168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856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290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352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81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795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722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9875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708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1524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707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8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47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19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35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4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4251" y="470916"/>
            <a:ext cx="6562374" cy="1691640"/>
          </a:xfrm>
          <a:prstGeom prst="roundRect">
            <a:avLst/>
          </a:prstGeom>
          <a:solidFill>
            <a:srgbClr val="F2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02880" y="4983480"/>
            <a:ext cx="4389120" cy="1828800"/>
          </a:xfrm>
          <a:prstGeom prst="roundRect">
            <a:avLst/>
          </a:prstGeom>
          <a:solidFill>
            <a:srgbClr val="F2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8419" y="702801"/>
            <a:ext cx="7772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 dirty="0">
                <a:solidFill>
                  <a:srgbClr val="0F2A5C"/>
                </a:solidFill>
                <a:latin typeface="Aptos"/>
              </a:rPr>
              <a:t>Healthcare: Patient Health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268703"/>
            <a:ext cx="7772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 dirty="0">
                <a:solidFill>
                  <a:srgbClr val="0F2A5C"/>
                </a:solidFill>
                <a:latin typeface="Aptos"/>
              </a:rPr>
              <a:t>Insurance Cost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2542" y="231513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4B6991"/>
                </a:solidFill>
                <a:latin typeface="Aptos"/>
              </a:rPr>
              <a:t>A Data Analysis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679192"/>
            <a:ext cx="960120" cy="54864"/>
          </a:xfrm>
          <a:prstGeom prst="rect">
            <a:avLst/>
          </a:prstGeom>
          <a:solidFill>
            <a:srgbClr val="468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523780"/>
            <a:ext cx="296914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0F2A5C"/>
                </a:solidFill>
                <a:latin typeface="Aptos"/>
              </a:rPr>
              <a:t>Alyaa Mohamed Elkordy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161634"/>
            <a:ext cx="283923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0F2A5C"/>
                </a:solidFill>
                <a:latin typeface="Aptos"/>
              </a:rPr>
              <a:t>Ebtihal Hassan Osman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523780"/>
            <a:ext cx="351589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0F2A5C"/>
                </a:solidFill>
                <a:latin typeface="Aptos"/>
              </a:rPr>
              <a:t>Afnan Mohamed Abdelfattah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161634"/>
            <a:ext cx="363420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0F2A5C"/>
                </a:solidFill>
                <a:latin typeface="Aptos"/>
              </a:rPr>
              <a:t>Ahmed Ayman Fathy Mahrous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542" y="2805976"/>
            <a:ext cx="1005840" cy="457200"/>
          </a:xfrm>
          <a:prstGeom prst="roundRect">
            <a:avLst/>
          </a:prstGeom>
          <a:solidFill>
            <a:srgbClr val="21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827549"/>
            <a:ext cx="1005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G2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43DEEA-2C9D-40AF-A703-FF94A5166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343" y="3523780"/>
            <a:ext cx="5134692" cy="3753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Do Some Customers Cost Us More?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624839"/>
            <a:ext cx="6296860" cy="1482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Analyzing Medical Insurance Costs for 1,337 Customers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4548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Business Problem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219597"/>
            <a:ext cx="6296860" cy="1255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3902" y="1403945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493902" y="1761629"/>
            <a:ext cx="585197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 a health insurance provider, some customers cost far more than others in claims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640509"/>
            <a:ext cx="6296860" cy="9909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93902" y="2824857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Question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493902" y="3182541"/>
            <a:ext cx="58519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What actually drives higher medical costs?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796804"/>
            <a:ext cx="6296860" cy="9909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93902" y="3981152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493902" y="4338836"/>
            <a:ext cx="58519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this lets us price policies more fairly and manage risk better</a:t>
            </a:r>
            <a:endParaRPr lang="en-US" sz="1300" dirty="0"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002FC6E9-B4ED-DC46-4761-76CAD496EAB1}"/>
              </a:ext>
            </a:extLst>
          </p:cNvPr>
          <p:cNvSpPr/>
          <p:nvPr/>
        </p:nvSpPr>
        <p:spPr>
          <a:xfrm>
            <a:off x="10225360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Getting the Data Ready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61475" y="120382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461492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580952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Remove Duplicates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1931392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Removed 1 duplicate customer record found in the raw data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2472134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2729805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849265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Verify Values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1475" y="3199705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Verified all values are realistic (ages, weights, costs — no impossible entries)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3740448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3998119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117578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Identify Outliers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1475" y="4468019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Found several customers with unusually high charges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1475" y="500876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1475" y="5266432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385891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Decision: Keep Them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1475" y="5736332"/>
            <a:ext cx="62968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Decision: kept them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not data errors, but exactly the customers we need to understand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 1: Where Is the Problem Geographically?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247874"/>
            <a:ext cx="1147833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Grouped customers by region, compared average cost per region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63105"/>
          <a:ext cx="10868746" cy="2221055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3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Region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Avg. Cost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Southeast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~$14,700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Northeast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~$13,400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Northwest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~$12,450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3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Southwest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~$12,350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61475" y="4065885"/>
            <a:ext cx="1147833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Southeast stands out clearly — group sizes are similar, so the gap is real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481116"/>
            <a:ext cx="8097040" cy="1901627"/>
          </a:xfrm>
          <a:prstGeom prst="rect">
            <a:avLst/>
          </a:prstGeom>
        </p:spPr>
      </p:pic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2CC032BC-9635-2BC8-FDC4-1CE63BE3C2A7}"/>
              </a:ext>
            </a:extLst>
          </p:cNvPr>
          <p:cNvSpPr/>
          <p:nvPr/>
        </p:nvSpPr>
        <p:spPr>
          <a:xfrm>
            <a:off x="10212706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4548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But Is Region the Real Cause?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1742579"/>
            <a:ext cx="6296860" cy="952897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5398655" y="1907877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98655" y="2265561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 region itself driving cost, or is something else at play?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3290689"/>
            <a:ext cx="6296860" cy="952897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5398655" y="3455988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Next Step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8655" y="3813671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Need to look at who exactly the highest-cost customers are</a:t>
            </a:r>
            <a:endParaRPr lang="en-US" sz="1300" dirty="0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61CBF106-43AD-727F-D236-333BA4673AF2}"/>
              </a:ext>
            </a:extLst>
          </p:cNvPr>
          <p:cNvSpPr/>
          <p:nvPr/>
        </p:nvSpPr>
        <p:spPr>
          <a:xfrm>
            <a:off x="10161736" y="6191953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 2: Who Are the Top 10% Costliest Customers?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4319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1050"/>
              </a:spcAft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Isolated the top 10% by charges (134 of 1,337 customers)</a:t>
            </a:r>
            <a:endParaRPr lang="en-US" sz="11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Asked: what do they have in common?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0486" y="2762447"/>
            <a:ext cx="593392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finding: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0486" y="3352997"/>
            <a:ext cx="5933927" cy="612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98%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730485" y="4297634"/>
            <a:ext cx="5933927" cy="53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 the highest-cost customers are smokers</a:t>
            </a:r>
            <a:endParaRPr lang="en-US" sz="11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Smokers are only 20% of the overall customer base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13" y="1978025"/>
            <a:ext cx="4588058" cy="3810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This Number Means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302246"/>
            <a:ext cx="629686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5x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661475" y="2054721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More Likely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41240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smoker is roughly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5x more likely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fall into the top 10% cost group than a non-smoker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127673"/>
            <a:ext cx="6296860" cy="661293"/>
          </a:xfrm>
          <a:prstGeom prst="roundRect">
            <a:avLst>
              <a:gd name="adj" fmla="val 22509"/>
            </a:avLst>
          </a:prstGeom>
          <a:solidFill>
            <a:srgbClr val="CEE6F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3367385"/>
            <a:ext cx="206667" cy="165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8731" y="3334246"/>
            <a:ext cx="62038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is the single strongest factor found across the entire analysis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4548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Missing Link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219597"/>
            <a:ext cx="6296860" cy="9909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2017" y="1403945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22017" y="1761629"/>
            <a:ext cx="58519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Southeast also has the highest smoker rate among all regions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12628"/>
            <a:ext cx="6296860" cy="9909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2017" y="2896977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22017" y="3254660"/>
            <a:ext cx="58519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Region isn't the real cause — it's a reflection of higher smoking rates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48181"/>
            <a:ext cx="6296860" cy="9909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2017" y="4432529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22017" y="4790213"/>
            <a:ext cx="58519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Smoking is the root cause; region was just a shadow of it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5" name="Text 0"/>
          <p:cNvSpPr/>
          <p:nvPr/>
        </p:nvSpPr>
        <p:spPr>
          <a:xfrm>
            <a:off x="661475" y="454819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So, What Should We Do?</a:t>
            </a:r>
            <a:endParaRPr lang="en-US" sz="3200" dirty="0"/>
          </a:p>
        </p:txBody>
      </p:sp>
      <p:sp>
        <p:nvSpPr>
          <p:cNvPr id="6" name="Text 1"/>
          <p:cNvSpPr/>
          <p:nvPr/>
        </p:nvSpPr>
        <p:spPr>
          <a:xfrm>
            <a:off x="661475" y="1203821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2"/>
          <p:cNvSpPr/>
          <p:nvPr/>
        </p:nvSpPr>
        <p:spPr>
          <a:xfrm>
            <a:off x="661475" y="1461492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8" name="Text 3"/>
          <p:cNvSpPr/>
          <p:nvPr/>
        </p:nvSpPr>
        <p:spPr>
          <a:xfrm>
            <a:off x="661475" y="1580952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Price Smoking Risk Accurately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61475" y="1931392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Set a clear, data-driven premium gap between smokers and non-smokers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61475" y="2472134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61475" y="2729805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2" name="Text 7"/>
          <p:cNvSpPr/>
          <p:nvPr/>
        </p:nvSpPr>
        <p:spPr>
          <a:xfrm>
            <a:off x="661475" y="2849265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Launch a Quit-Smoking Incentive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61475" y="3199705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Offer discounts to customers who quit — real savings for both sides over time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61475" y="3740448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61475" y="3998119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6" name="Text 11"/>
          <p:cNvSpPr/>
          <p:nvPr/>
        </p:nvSpPr>
        <p:spPr>
          <a:xfrm>
            <a:off x="661475" y="4117578"/>
            <a:ext cx="62968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 a Predictive Model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1475" y="4468019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a new customer's cost upfront from their basic profile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Summary of the Journey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302246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1389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Found Smoking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1389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Dive into Why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1389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Southeast Highest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1389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Compare Regions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2917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Cleaned Data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43619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Smoking isn't just one factor among many — it's the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strongest, clearest driver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medical cost</a:t>
            </a:r>
            <a:endParaRPr lang="en-US" sz="1300" dirty="0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C7DE0E2B-3165-A265-4FB6-3120516E764E}"/>
              </a:ext>
            </a:extLst>
          </p:cNvPr>
          <p:cNvSpPr/>
          <p:nvPr/>
        </p:nvSpPr>
        <p:spPr>
          <a:xfrm>
            <a:off x="10225360" y="6240780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"/>
            <a:ext cx="6563557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BC4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BMI, Smoking &amp; Regional Risk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8BC4F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85800" y="288036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is the Southeast the expensive region?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62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STARTING POINT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Southeast has the highest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average medical charges.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0" y="50292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CEE6FD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658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HIGHEST-COST REGION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06840" y="896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Southeast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006840" y="1170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A81F0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$14,735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0068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charges per patient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7498080" cy="868680"/>
          </a:xfrm>
          <a:prstGeom prst="roundRect">
            <a:avLst>
              <a:gd name="adj" fmla="val 10526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0574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“Why is this region specifically the most expensive?”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58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 questions this section answers: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B4C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886200"/>
            <a:ext cx="640080" cy="640080"/>
          </a:xfrm>
          <a:prstGeom prst="ellipse">
            <a:avLst/>
          </a:prstGeom>
          <a:solidFill>
            <a:srgbClr val="091C53"/>
          </a:solidFill>
          <a:ln/>
        </p:spPr>
      </p:sp>
      <p:pic>
        <p:nvPicPr>
          <p:cNvPr id="14" name="Image 0" descr="/home/claude/work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2" y="4059022"/>
            <a:ext cx="294437" cy="29443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60120" y="4709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Does BMI itself affect cost?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0" y="36118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B4CC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3886200"/>
            <a:ext cx="640080" cy="640080"/>
          </a:xfrm>
          <a:prstGeom prst="ellipse">
            <a:avLst/>
          </a:prstGeom>
          <a:solidFill>
            <a:srgbClr val="091C53"/>
          </a:solidFill>
          <a:ln/>
        </p:spPr>
      </p:sp>
      <p:pic>
        <p:nvPicPr>
          <p:cNvPr id="18" name="Image 1" descr="/home/claude/work/icons/smo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142" y="4059022"/>
            <a:ext cx="294437" cy="29443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846320" y="4709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Is smoking behind the regional gap?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458200" y="36118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B4CCE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732520" y="3886200"/>
            <a:ext cx="640080" cy="640080"/>
          </a:xfrm>
          <a:prstGeom prst="ellipse">
            <a:avLst/>
          </a:prstGeom>
          <a:solidFill>
            <a:srgbClr val="091C53"/>
          </a:solidFill>
          <a:ln/>
        </p:spPr>
      </p:sp>
      <p:pic>
        <p:nvPicPr>
          <p:cNvPr id="22" name="Image 2" descr="/home/claude/work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342" y="4059022"/>
            <a:ext cx="294437" cy="29443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732520" y="47091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Is Southeast a double-risk region?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899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799" y="266330"/>
            <a:ext cx="10109447" cy="510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 3 · DOES BMI ITSELF AFFECT COST?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Weight alone isn't the problem.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Weight + smoking is.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874520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745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CEE6FD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OBESE + SMOKER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50392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A81F0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4.7x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5039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charges than obese non-smokers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0" y="3977640"/>
            <a:ext cx="32918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4160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Across every BMI category, being a smoker roughly doubles or triples the cost — but for obese patients, the gap explodes. The two risk factors compound, they don't just add up.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C1A597-1F95-3303-127B-E732B3CAB4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94069" y="2157022"/>
            <a:ext cx="1590211" cy="1035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E2E04F-CC36-4D9C-0D15-8D3A41AFB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468" y="-120846"/>
            <a:ext cx="2792247" cy="204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80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 4 · IS SMOKING BEHIND THE REGIONAL GAP?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Southeast also has the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highest share of smokers.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874520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745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CEE6FD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SOUTHEAST SMOKER RATE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50392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A81F0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25%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5039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vs. 17.8%–20.7% elsewhere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0" y="3977640"/>
            <a:ext cx="32918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4160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bars and the line move together: the region with the highest cost is also the region with the highest smoker rate. That's not a coincidence.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52C118-AB9E-FA1A-2C73-966A606F9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967" y="752319"/>
            <a:ext cx="1763105" cy="125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45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72862"/>
            <a:ext cx="10331388" cy="404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15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 5 · IS SOUTHEAST A DOUBLE-RISK REGION?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It's not just smoking — weight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follows the same pattern.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874520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745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CEE6FD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SOUTHEAST AVG. BMI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50392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A81F0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33.36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50392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of all four regions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0" y="3977640"/>
            <a:ext cx="32918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4160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Southeast leads on BMI too — about 3 points above the next-highest region. This isn't one risk factor; it's two, stacked in the same place.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DC9765-B412-319E-02CF-1CF1A65E3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131" y="713380"/>
            <a:ext cx="1760777" cy="113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05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BIGGER PICTURE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Southeast is a double-risk region.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E306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594360" cy="59436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6" name="Image 0" descr="/home/claude/work/icons/smo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97" y="258363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SMOKER RATE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6012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25%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6012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of all regions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E3063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423160"/>
            <a:ext cx="594360" cy="59436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2" name="Image 1" descr="/home/claude/work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477" y="2583637"/>
            <a:ext cx="273406" cy="2734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BMI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57200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33.36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45720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of all regions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909560" y="21488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1E3063"/>
          </a:solidFill>
          <a:ln/>
        </p:spPr>
      </p:sp>
      <p:sp>
        <p:nvSpPr>
          <p:cNvPr id="17" name="Shape 13"/>
          <p:cNvSpPr/>
          <p:nvPr/>
        </p:nvSpPr>
        <p:spPr>
          <a:xfrm>
            <a:off x="8183880" y="2423160"/>
            <a:ext cx="594360" cy="594360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8" name="Image 2" descr="/home/claude/work/icons/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4357" y="2583637"/>
            <a:ext cx="273406" cy="2734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838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10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AVG. CHARGES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18388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$14,735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818388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highest of all regions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68580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 separate questions — BMI, smoking, and geography — all point back to the same conclusion: costs don't rise because of a single factor, they rise when risk factors stack together in the same place.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056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84C1FA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TAKEAWAY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Don't target the region.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Target the risk factors.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965960" y="24688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Cost is driven by combinations, not single traits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965960" y="281635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Smoking and obesity compound each other — obese smokers cost 4.7x more than obese non-smokers.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3657600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965960" y="37947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Geography is a symptom, not the cause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965960" y="414223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Southeast is expensive because of who lives there — higher smoking rate and higher average BMI — not because of the region itself.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4983480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965960" y="51206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Prevention programs should follow the risk factors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965960" y="546811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Smoking-cessation and weight-management support will lower costs anywhere they're applied — not just in Southeast.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CCE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F45CE3-DA28-F856-250C-00982A271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557" y="410374"/>
            <a:ext cx="2529643" cy="185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05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42195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What Drives Medical Charges?</a:t>
            </a:r>
            <a:endParaRPr kumimoji="0" lang="en-US" sz="3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3610868"/>
            <a:ext cx="10868745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 analysis of healthcare insurance costs across smoking status, region, age, and gender — identifying the dominant factors behind charge variation.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1CB606DC-27F6-48F7-42ED-F1E052B61AAF}"/>
              </a:ext>
            </a:extLst>
          </p:cNvPr>
          <p:cNvSpPr/>
          <p:nvPr/>
        </p:nvSpPr>
        <p:spPr>
          <a:xfrm>
            <a:off x="10225360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880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1180"/>
            <a:ext cx="5203794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Average Charges by Number of Children</a:t>
            </a:r>
            <a:endParaRPr kumimoji="0" lang="en-US" sz="3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871490"/>
            <a:ext cx="520379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Family size shows the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weakest relationship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with medical charges of the three factors examined. Charges rise mildly through 2–3 children, then dip at 4–5 — suggesting no strong, consistent linear pattern.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4293791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580533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511080"/>
            <a:ext cx="4400539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Children/family size is an unreliable cost predictor. Do not over-index on this variable in cost modeling.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25" y="972185"/>
            <a:ext cx="6107430" cy="4384675"/>
          </a:xfrm>
          <a:prstGeom prst="rect">
            <a:avLst/>
          </a:prstGeom>
        </p:spPr>
      </p:pic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D678AB5D-AEB7-8D32-C779-2B9DE3F1473F}"/>
              </a:ext>
            </a:extLst>
          </p:cNvPr>
          <p:cNvSpPr/>
          <p:nvPr/>
        </p:nvSpPr>
        <p:spPr>
          <a:xfrm>
            <a:off x="10225360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770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Smoking Status: The Clearest Cost Driver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61475" y="956766"/>
            <a:ext cx="3583493" cy="311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$8,441</a:t>
            </a:r>
            <a:endParaRPr kumimoji="0" lang="en-US" sz="2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661475" y="1351260"/>
            <a:ext cx="3583493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Non-Smoker Average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61475" y="1527175"/>
            <a:ext cx="3583493" cy="113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Average charges for non-smoking patients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4304002" y="956766"/>
            <a:ext cx="3583592" cy="311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$32,050</a:t>
            </a:r>
            <a:endParaRPr kumimoji="0" lang="en-US" sz="2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4304002" y="1351260"/>
            <a:ext cx="3583592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Smoker Average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4304002" y="1527175"/>
            <a:ext cx="3583592" cy="113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Average charges for smoking patients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7946628" y="956766"/>
            <a:ext cx="3583493" cy="311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3.8x</a:t>
            </a:r>
            <a:endParaRPr kumimoji="0" lang="en-US" sz="2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7946628" y="1351260"/>
            <a:ext cx="3583493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Cost Multiplier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7946628" y="1527175"/>
            <a:ext cx="3583493" cy="113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Smokers pay roughly 3.8× more than non-smokers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7840" y="1676400"/>
            <a:ext cx="5604510" cy="5088255"/>
          </a:xfrm>
          <a:prstGeom prst="rect">
            <a:avLst/>
          </a:prstGeom>
        </p:spPr>
      </p:pic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6665E666-1DCC-6436-3DA6-CD5A86F0CA02}"/>
              </a:ext>
            </a:extLst>
          </p:cNvPr>
          <p:cNvSpPr/>
          <p:nvPr/>
        </p:nvSpPr>
        <p:spPr>
          <a:xfrm>
            <a:off x="10161736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9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Average Charges by Region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7049195"/>
            <a:ext cx="11478330" cy="113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Southeast leads at $14,735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nearly $2,400 more than the lowest-cost region (Southwest at $12,347). Regional variation is meaningful, and largely tied to differences in smoking prevalence across geographies.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45" y="967105"/>
            <a:ext cx="7977505" cy="584136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840979-5701-04B3-3B30-375A3552C830}"/>
              </a:ext>
            </a:extLst>
          </p:cNvPr>
          <p:cNvSpPr/>
          <p:nvPr/>
        </p:nvSpPr>
        <p:spPr>
          <a:xfrm>
            <a:off x="10225360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735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Charges Distribution by Smoker Status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Two Barely Overlapping Worlds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17487" y="1714123"/>
            <a:ext cx="5319083" cy="538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Non-smokers:</a:t>
            </a:r>
            <a:r>
              <a:rPr kumimoji="0" lang="en-US" alt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91% fall under $15,000 — that's 972 of 1,063 patients concentrated in the lowest charge band.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Smokers:</a:t>
            </a:r>
            <a:r>
              <a:rPr kumimoji="0" lang="en-US" alt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97% (267 of 274) exceed $15,000, spreading up to $65,000 — only a small remainder (7 patients) still fall between $10,000–$15,000.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two distributions barely overlap. This is not a subtle statistical difference — it is a structural separation in cost profiles driven entirely by smoking status.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477645"/>
            <a:ext cx="5499100" cy="419354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A3761D-902E-F40E-5623-E92AE2DE4D06}"/>
              </a:ext>
            </a:extLst>
          </p:cNvPr>
          <p:cNvSpPr/>
          <p:nvPr/>
        </p:nvSpPr>
        <p:spPr>
          <a:xfrm>
            <a:off x="10225360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54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0133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Age vs. Charges, by Smoker Status</a:t>
            </a:r>
            <a:endParaRPr kumimoji="0" lang="en-US" sz="3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348805"/>
            <a:ext cx="10868745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When plotted across age, two visibly separate bands emerge — smokers consistently occupy a higher cost band than non-smokers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at every age group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3166269"/>
            <a:ext cx="10868745" cy="231149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172619"/>
            <a:ext cx="3618616" cy="2298799"/>
          </a:xfrm>
          <a:custGeom>
            <a:avLst/>
            <a:gdLst/>
            <a:ahLst/>
            <a:cxnLst/>
            <a:rect l="l" t="t" r="r" b="b"/>
            <a:pathLst>
              <a:path w="3618616" h="2298799">
                <a:moveTo>
                  <a:pt x="66156" y="0"/>
                </a:moveTo>
                <a:lnTo>
                  <a:pt x="3618616" y="0"/>
                </a:lnTo>
                <a:lnTo>
                  <a:pt x="3618616" y="2298799"/>
                </a:lnTo>
                <a:lnTo>
                  <a:pt x="66156" y="2298799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6" name="Text 4"/>
          <p:cNvSpPr/>
          <p:nvPr/>
        </p:nvSpPr>
        <p:spPr>
          <a:xfrm>
            <a:off x="856832" y="3361630"/>
            <a:ext cx="3240602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Charges Increase with Age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6832" y="3770313"/>
            <a:ext cx="324060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Both groups show rising costs as patients get older — a gradual, steady climb rather than a sudden jump.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86440" y="3172619"/>
            <a:ext cx="3618715" cy="2298799"/>
          </a:xfrm>
          <a:prstGeom prst="rect">
            <a:avLst/>
          </a:prstGeom>
          <a:solidFill>
            <a:srgbClr val="E1E1EA"/>
          </a:solidFill>
        </p:spPr>
      </p:sp>
      <p:sp>
        <p:nvSpPr>
          <p:cNvPr id="9" name="Shape 7"/>
          <p:cNvSpPr/>
          <p:nvPr/>
        </p:nvSpPr>
        <p:spPr>
          <a:xfrm>
            <a:off x="4286440" y="3172619"/>
            <a:ext cx="25399" cy="2298799"/>
          </a:xfrm>
          <a:prstGeom prst="roundRect">
            <a:avLst>
              <a:gd name="adj" fmla="val 50001"/>
            </a:avLst>
          </a:prstGeom>
          <a:solidFill>
            <a:srgbClr val="C7C7D0"/>
          </a:solidFill>
        </p:spPr>
      </p:sp>
      <p:sp>
        <p:nvSpPr>
          <p:cNvPr id="10" name="Text 8"/>
          <p:cNvSpPr/>
          <p:nvPr/>
        </p:nvSpPr>
        <p:spPr>
          <a:xfrm>
            <a:off x="4475447" y="3361630"/>
            <a:ext cx="324070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Smokers Always Higher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75447" y="3770313"/>
            <a:ext cx="3240701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Regardless of age, smokers are consistently placed in a higher charge band — the gap does not close at any point in the age spectrum.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05155" y="3172619"/>
            <a:ext cx="3618715" cy="2298799"/>
          </a:xfrm>
          <a:custGeom>
            <a:avLst/>
            <a:gdLst/>
            <a:ahLst/>
            <a:cxnLst/>
            <a:rect l="l" t="t" r="r" b="b"/>
            <a:pathLst>
              <a:path w="3618715" h="2298799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2232641"/>
                </a:lnTo>
                <a:arcTo wR="66156" hR="66158" stAng="0" swAng="5400000"/>
                <a:lnTo>
                  <a:pt x="0" y="2298799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3" name="Shape 11"/>
          <p:cNvSpPr/>
          <p:nvPr/>
        </p:nvSpPr>
        <p:spPr>
          <a:xfrm>
            <a:off x="7905155" y="3172619"/>
            <a:ext cx="25399" cy="2298799"/>
          </a:xfrm>
          <a:prstGeom prst="roundRect">
            <a:avLst>
              <a:gd name="adj" fmla="val 50001"/>
            </a:avLst>
          </a:prstGeom>
          <a:solidFill>
            <a:srgbClr val="C7C7D0"/>
          </a:solidFill>
        </p:spPr>
      </p:sp>
      <p:sp>
        <p:nvSpPr>
          <p:cNvPr id="14" name="Text 12"/>
          <p:cNvSpPr/>
          <p:nvPr/>
        </p:nvSpPr>
        <p:spPr>
          <a:xfrm>
            <a:off x="8094162" y="3361630"/>
            <a:ext cx="3240701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Two Separate Bands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94162" y="3770313"/>
            <a:ext cx="3240701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visual separation between smoker and non-smoker charge distributions is clear and persistent — confirming smoking as the dominant structural driver.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5441783E-EC4D-8CB8-C406-7A63041F2115}"/>
              </a:ext>
            </a:extLst>
          </p:cNvPr>
          <p:cNvSpPr/>
          <p:nvPr/>
        </p:nvSpPr>
        <p:spPr>
          <a:xfrm>
            <a:off x="10225360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627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Average Charges by Age Group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89852" y="814407"/>
            <a:ext cx="5319083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Steady Growth, No Sudden Cliff</a:t>
            </a:r>
          </a:p>
        </p:txBody>
      </p:sp>
      <p:sp>
        <p:nvSpPr>
          <p:cNvPr id="5" name="Text 2"/>
          <p:cNvSpPr/>
          <p:nvPr/>
        </p:nvSpPr>
        <p:spPr>
          <a:xfrm>
            <a:off x="6217487" y="1128018"/>
            <a:ext cx="5319083" cy="4960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From age 18–25 ($9,111) to age 56–65 ($18,796), charges more than double — but the increase is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gradual and consistent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not driven by any single age threshold.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 decade adds roughly $2,000–$3,500 in average charges. Age is a real cost driver, but a secondary one compared to smoking status.</a:t>
            </a:r>
          </a:p>
        </p:txBody>
      </p:sp>
      <p:sp>
        <p:nvSpPr>
          <p:cNvPr id="6" name="Shape 3"/>
          <p:cNvSpPr/>
          <p:nvPr/>
        </p:nvSpPr>
        <p:spPr>
          <a:xfrm>
            <a:off x="6312102" y="3025299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E1E1EA"/>
          </a:solidFill>
        </p:spPr>
      </p:sp>
      <p:sp>
        <p:nvSpPr>
          <p:cNvPr id="8" name="Text 4"/>
          <p:cNvSpPr/>
          <p:nvPr/>
        </p:nvSpPr>
        <p:spPr>
          <a:xfrm>
            <a:off x="6217285" y="3025140"/>
            <a:ext cx="5527040" cy="113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Growth is steady, not a sudden jump — cost rises gradually with age.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" y="1506220"/>
            <a:ext cx="6003925" cy="393890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2263A6E-1380-0EBC-8652-45715FC1524D}"/>
              </a:ext>
            </a:extLst>
          </p:cNvPr>
          <p:cNvSpPr/>
          <p:nvPr/>
        </p:nvSpPr>
        <p:spPr>
          <a:xfrm>
            <a:off x="10182101" y="618310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27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Gender Analysis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661475" y="933152"/>
            <a:ext cx="5319083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Raw Numbers Look Like a Gap…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1475" y="1133872"/>
            <a:ext cx="5319083" cy="3828752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6217487" y="837902"/>
            <a:ext cx="5319083" cy="14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B1B27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…But Smoking Status Explains It All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17487" y="5015706"/>
            <a:ext cx="5319083" cy="226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Once split by smoking status, the gender gap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nearly disappears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Gender itself is not a meaningful cost driver — smoking status is</a:t>
            </a:r>
            <a:r>
              <a:rPr kumimoji="0" lang="en-US" sz="30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805" y="1198880"/>
            <a:ext cx="4607560" cy="3559175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859B4A0-75FD-03F0-89CE-CAD13D80BB69}"/>
              </a:ext>
            </a:extLst>
          </p:cNvPr>
          <p:cNvSpPr/>
          <p:nvPr/>
        </p:nvSpPr>
        <p:spPr>
          <a:xfrm>
            <a:off x="10225360" y="6229433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04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8ED7D-D30E-BC99-9586-CCC2CCA7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366285"/>
            <a:ext cx="10631384" cy="6125430"/>
          </a:xfrm>
          <a:prstGeom prst="rect">
            <a:avLst/>
          </a:prstGeom>
        </p:spPr>
      </p:pic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78BBFD77-84B1-E797-BB84-82D525A64230}"/>
              </a:ext>
            </a:extLst>
          </p:cNvPr>
          <p:cNvSpPr/>
          <p:nvPr/>
        </p:nvSpPr>
        <p:spPr>
          <a:xfrm>
            <a:off x="10792050" y="6491715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420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205472" y="891540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4572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0F2A5C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15BA0"/>
                </a:solidFill>
                <a:latin typeface="Aptos"/>
              </a:rPr>
              <a:t>What Drives Medical Charges?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438912" cy="438912"/>
          </a:xfrm>
          <a:prstGeom prst="ellipse">
            <a:avLst/>
          </a:prstGeom>
          <a:solidFill>
            <a:srgbClr val="468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43891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30552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2A5C"/>
                </a:solidFill>
                <a:latin typeface="Aptos"/>
              </a:rPr>
              <a:t>Smoking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30552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415878"/>
                </a:solidFill>
                <a:latin typeface="Aptos"/>
              </a:rPr>
              <a:t>The clearest and strongest cost driver.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71800"/>
            <a:ext cx="438912" cy="438912"/>
          </a:xfrm>
          <a:prstGeom prst="ellipse">
            <a:avLst/>
          </a:prstGeom>
          <a:solidFill>
            <a:srgbClr val="468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80944"/>
            <a:ext cx="43891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53512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2A5C"/>
                </a:solidFill>
                <a:latin typeface="Aptos"/>
              </a:rPr>
              <a:t>Risk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53512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415878"/>
                </a:solidFill>
                <a:latin typeface="Aptos"/>
              </a:rPr>
              <a:t>Smoking and obesity compound each other.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94760"/>
            <a:ext cx="438912" cy="438912"/>
          </a:xfrm>
          <a:prstGeom prst="ellipse">
            <a:avLst/>
          </a:prstGeom>
          <a:solidFill>
            <a:srgbClr val="468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03904"/>
            <a:ext cx="438912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76472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F2A5C"/>
                </a:solidFill>
                <a:latin typeface="Aptos"/>
              </a:rPr>
              <a:t>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76472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415878"/>
                </a:solidFill>
                <a:latin typeface="Aptos"/>
              </a:rPr>
              <a:t>The Southeast is a symptom of higher risk, not the root cause.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8046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215BA0"/>
                </a:solidFill>
                <a:latin typeface="Aptos"/>
              </a:rPr>
              <a:t>Target the risk factors — not the region.</a:t>
            </a: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9607132D-F9F9-541A-C1D8-C7B3B2C563B3}"/>
              </a:ext>
            </a:extLst>
          </p:cNvPr>
          <p:cNvSpPr/>
          <p:nvPr/>
        </p:nvSpPr>
        <p:spPr>
          <a:xfrm>
            <a:off x="10225360" y="6240780"/>
            <a:ext cx="1966640" cy="617220"/>
          </a:xfrm>
          <a:prstGeom prst="round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.84377952755907,&quot;left&quot;:52.08464566929134,&quot;top&quot;:75.33590551181102,&quot;width&quot;:855.798897637795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12598425197,&quot;left&quot;:52.08464566929134,&quot;top&quot;:65.97653543307086,&quot;width&quot;:856.306692913385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12598425197,&quot;left&quot;:52.08464566929134,&quot;top&quot;:65.97653543307086,&quot;width&quot;:856.306692913385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7812598425197,&quot;left&quot;:52.08464566929134,&quot;top&quot;:65.97653543307086,&quot;width&quot;:856.306692913385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1486</Words>
  <Application>Microsoft Office PowerPoint</Application>
  <PresentationFormat>Widescreen</PresentationFormat>
  <Paragraphs>230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Instrument Sans</vt:lpstr>
      <vt:lpstr>Roboto Bold</vt:lpstr>
      <vt:lpstr>Instrument Sans SemiBold</vt:lpstr>
      <vt:lpstr>Arial</vt:lpstr>
      <vt:lpstr>Instrument Sans Medium</vt:lpstr>
      <vt:lpstr>Aptos</vt:lpstr>
      <vt:lpstr>Instrument Sans Bold</vt:lpstr>
      <vt:lpstr>Roboto</vt:lpstr>
      <vt:lpstr>Calibri</vt:lpstr>
      <vt:lpstr>Raleway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Ahmed Ayman</cp:lastModifiedBy>
  <cp:revision>6</cp:revision>
  <dcterms:created xsi:type="dcterms:W3CDTF">2026-08-29T01:48:30Z</dcterms:created>
  <dcterms:modified xsi:type="dcterms:W3CDTF">2026-08-29T07:45:42Z</dcterms:modified>
</cp:coreProperties>
</file>